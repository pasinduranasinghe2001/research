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0" r:id="rId4"/>
    <p:sldId id="259" r:id="rId5"/>
    <p:sldId id="260" r:id="rId6"/>
    <p:sldId id="266" r:id="rId7"/>
    <p:sldId id="268" r:id="rId8"/>
    <p:sldId id="274" r:id="rId9"/>
    <p:sldId id="275" r:id="rId10"/>
    <p:sldId id="272" r:id="rId11"/>
    <p:sldId id="269" r:id="rId12"/>
    <p:sldId id="276" r:id="rId13"/>
    <p:sldId id="27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29" autoAdjust="0"/>
    <p:restoredTop sz="94660"/>
  </p:normalViewPr>
  <p:slideViewPr>
    <p:cSldViewPr snapToGrid="0">
      <p:cViewPr varScale="1">
        <p:scale>
          <a:sx n="50" d="100"/>
          <a:sy n="50" d="100"/>
        </p:scale>
        <p:origin x="62" y="9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ECC778-B273-477C-93E2-48033335AE14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D4FC06E6-B046-4DF3-87D5-EBB9AA68D61D}">
      <dgm:prSet phldrT="[Text]" custT="1"/>
      <dgm:spPr/>
      <dgm:t>
        <a:bodyPr/>
        <a:lstStyle/>
        <a:p>
          <a:pPr algn="ctr"/>
          <a:r>
            <a: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1. Frame Selection</a:t>
          </a:r>
        </a:p>
        <a:p>
          <a:pPr algn="ctr"/>
          <a:endParaRPr lang="en-US" sz="16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-recent-window selection</a:t>
          </a:r>
        </a:p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--random sampling</a:t>
          </a:r>
        </a:p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-paired early/late selection</a:t>
          </a:r>
        </a:p>
        <a:p>
          <a:pPr algn="ctr"/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9D924D-F71B-4FA7-96D8-2089D79A92C6}" type="parTrans" cxnId="{1DF3BF97-8B77-47BB-805C-8CE4C84E9AC4}">
      <dgm:prSet/>
      <dgm:spPr/>
      <dgm:t>
        <a:bodyPr/>
        <a:lstStyle/>
        <a:p>
          <a:endParaRPr lang="en-US"/>
        </a:p>
      </dgm:t>
    </dgm:pt>
    <dgm:pt modelId="{7517DBBB-622E-4561-88A8-2A2A8F1A4278}" type="sibTrans" cxnId="{1DF3BF97-8B77-47BB-805C-8CE4C84E9AC4}">
      <dgm:prSet/>
      <dgm:spPr/>
      <dgm:t>
        <a:bodyPr/>
        <a:lstStyle/>
        <a:p>
          <a:endParaRPr lang="en-US"/>
        </a:p>
      </dgm:t>
    </dgm:pt>
    <dgm:pt modelId="{E5CB92B0-D0B7-423D-A36A-D8395B902D87}">
      <dgm:prSet phldrT="[Text]" custT="1"/>
      <dgm:spPr/>
      <dgm:t>
        <a:bodyPr/>
        <a:lstStyle/>
        <a:p>
          <a:pPr algn="ctr"/>
          <a:r>
            <a: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2. Preprocessing</a:t>
          </a:r>
        </a:p>
        <a:p>
          <a:pPr algn="ctr"/>
          <a:endParaRPr lang="en-US" sz="16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-checking temporal order and metadata</a:t>
          </a:r>
        </a:p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-resizing image patches</a:t>
          </a:r>
        </a:p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-normalizing images</a:t>
          </a:r>
        </a:p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-handling missing or corrupted frames</a:t>
          </a:r>
        </a:p>
        <a:p>
          <a:pPr algn="l"/>
          <a:endParaRPr lang="en-US" sz="14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AB462E-04CC-47C6-BCEB-0E8F6C603491}" type="parTrans" cxnId="{76C4DCA7-A402-4141-A8A6-FBC69476B702}">
      <dgm:prSet/>
      <dgm:spPr/>
      <dgm:t>
        <a:bodyPr/>
        <a:lstStyle/>
        <a:p>
          <a:endParaRPr lang="en-US"/>
        </a:p>
      </dgm:t>
    </dgm:pt>
    <dgm:pt modelId="{B8CEE40A-5810-4DDD-A32E-4E28323B1CC3}" type="sibTrans" cxnId="{76C4DCA7-A402-4141-A8A6-FBC69476B702}">
      <dgm:prSet/>
      <dgm:spPr/>
      <dgm:t>
        <a:bodyPr/>
        <a:lstStyle/>
        <a:p>
          <a:endParaRPr lang="en-US"/>
        </a:p>
      </dgm:t>
    </dgm:pt>
    <dgm:pt modelId="{4AFCB3B8-98EE-41D0-BD18-D48B0E86DD30}">
      <dgm:prSet phldrT="[Text]" custT="1"/>
      <dgm:spPr/>
      <dgm:t>
        <a:bodyPr/>
        <a:lstStyle/>
        <a:p>
          <a:pPr algn="ctr"/>
          <a:r>
            <a:rPr lang="en-US" sz="16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3. Baseline Comparison</a:t>
          </a:r>
        </a:p>
        <a:p>
          <a:pPr algn="ctr"/>
          <a:endParaRPr lang="en-US" sz="16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-single-frame CNN</a:t>
          </a:r>
        </a:p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-two-frame change-based model</a:t>
          </a:r>
        </a:p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-short temporal pooling model</a:t>
          </a:r>
        </a:p>
        <a:p>
          <a:pPr algn="l"/>
          <a:r>
            <a: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-lightweight temporal fusion model</a:t>
          </a:r>
          <a:endParaRPr lang="en-US" sz="16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477133-FF1B-4AC5-8CA7-CDD7948AFA63}" type="parTrans" cxnId="{F2FC6E15-250A-4C94-858D-EA511A608AA9}">
      <dgm:prSet/>
      <dgm:spPr/>
      <dgm:t>
        <a:bodyPr/>
        <a:lstStyle/>
        <a:p>
          <a:endParaRPr lang="en-US"/>
        </a:p>
      </dgm:t>
    </dgm:pt>
    <dgm:pt modelId="{40BB1E6A-20BE-44B2-B6EC-B5D4156E1AAC}" type="sibTrans" cxnId="{F2FC6E15-250A-4C94-858D-EA511A608AA9}">
      <dgm:prSet/>
      <dgm:spPr/>
      <dgm:t>
        <a:bodyPr/>
        <a:lstStyle/>
        <a:p>
          <a:endParaRPr lang="en-US"/>
        </a:p>
      </dgm:t>
    </dgm:pt>
    <dgm:pt modelId="{EF3A0723-A160-4BAD-B775-6DDFDB534BDD}" type="pres">
      <dgm:prSet presAssocID="{36ECC778-B273-477C-93E2-48033335AE14}" presName="Name0" presStyleCnt="0">
        <dgm:presLayoutVars>
          <dgm:dir/>
          <dgm:resizeHandles val="exact"/>
        </dgm:presLayoutVars>
      </dgm:prSet>
      <dgm:spPr/>
    </dgm:pt>
    <dgm:pt modelId="{FDFF160E-59AB-4993-9F6B-F2BF464795CD}" type="pres">
      <dgm:prSet presAssocID="{D4FC06E6-B046-4DF3-87D5-EBB9AA68D61D}" presName="node" presStyleLbl="node1" presStyleIdx="0" presStyleCnt="3" custScaleY="220764" custLinFactNeighborX="-7513" custLinFactNeighborY="-1502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672996-D9B3-4D00-86A4-8FE02000EC01}" type="pres">
      <dgm:prSet presAssocID="{7517DBBB-622E-4561-88A8-2A2A8F1A4278}" presName="sibTrans" presStyleLbl="sibTrans2D1" presStyleIdx="0" presStyleCnt="2" custScaleX="140978" custScaleY="127113" custLinFactNeighborX="-3493" custLinFactNeighborY="6336"/>
      <dgm:spPr/>
      <dgm:t>
        <a:bodyPr/>
        <a:lstStyle/>
        <a:p>
          <a:endParaRPr lang="en-US"/>
        </a:p>
      </dgm:t>
    </dgm:pt>
    <dgm:pt modelId="{DCEB0D7E-36FA-41BF-BC7C-97918F759CF2}" type="pres">
      <dgm:prSet presAssocID="{7517DBBB-622E-4561-88A8-2A2A8F1A4278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DE2AE5E8-6777-4079-9CFB-54E46CAB0BDA}" type="pres">
      <dgm:prSet presAssocID="{E5CB92B0-D0B7-423D-A36A-D8395B902D87}" presName="node" presStyleLbl="node1" presStyleIdx="1" presStyleCnt="3" custScaleY="220764" custLinFactNeighborX="-5220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6C5B77A-CA7C-48C8-8AEB-A06C2025D553}" type="pres">
      <dgm:prSet presAssocID="{B8CEE40A-5810-4DDD-A32E-4E28323B1CC3}" presName="sibTrans" presStyleLbl="sibTrans2D1" presStyleIdx="1" presStyleCnt="2" custScaleX="134078" custScaleY="138930" custLinFactNeighborX="-9919" custLinFactNeighborY="4003"/>
      <dgm:spPr/>
      <dgm:t>
        <a:bodyPr/>
        <a:lstStyle/>
        <a:p>
          <a:endParaRPr lang="en-US"/>
        </a:p>
      </dgm:t>
    </dgm:pt>
    <dgm:pt modelId="{050DC7C0-694D-4737-83ED-8C32FC79B4C6}" type="pres">
      <dgm:prSet presAssocID="{B8CEE40A-5810-4DDD-A32E-4E28323B1CC3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AB504E4D-1BD3-4A56-A5C4-E7AC4027DA44}" type="pres">
      <dgm:prSet presAssocID="{4AFCB3B8-98EE-41D0-BD18-D48B0E86DD30}" presName="node" presStyleLbl="node1" presStyleIdx="2" presStyleCnt="3" custScaleY="220764" custLinFactNeighborX="-95604" custLinFactNeighborY="-120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C4DCA7-A402-4141-A8A6-FBC69476B702}" srcId="{36ECC778-B273-477C-93E2-48033335AE14}" destId="{E5CB92B0-D0B7-423D-A36A-D8395B902D87}" srcOrd="1" destOrd="0" parTransId="{F8AB462E-04CC-47C6-BCEB-0E8F6C603491}" sibTransId="{B8CEE40A-5810-4DDD-A32E-4E28323B1CC3}"/>
    <dgm:cxn modelId="{6D43D247-14CA-49F7-9D19-92D669FF0AC0}" type="presOf" srcId="{B8CEE40A-5810-4DDD-A32E-4E28323B1CC3}" destId="{050DC7C0-694D-4737-83ED-8C32FC79B4C6}" srcOrd="1" destOrd="0" presId="urn:microsoft.com/office/officeart/2005/8/layout/process1"/>
    <dgm:cxn modelId="{5856CED3-FE6F-4142-9389-5C0F0DADD169}" type="presOf" srcId="{B8CEE40A-5810-4DDD-A32E-4E28323B1CC3}" destId="{96C5B77A-CA7C-48C8-8AEB-A06C2025D553}" srcOrd="0" destOrd="0" presId="urn:microsoft.com/office/officeart/2005/8/layout/process1"/>
    <dgm:cxn modelId="{222A4228-C2E6-488A-BD9E-2F68E78EE043}" type="presOf" srcId="{4AFCB3B8-98EE-41D0-BD18-D48B0E86DD30}" destId="{AB504E4D-1BD3-4A56-A5C4-E7AC4027DA44}" srcOrd="0" destOrd="0" presId="urn:microsoft.com/office/officeart/2005/8/layout/process1"/>
    <dgm:cxn modelId="{43CB04EC-926F-4304-A874-0C79202F717C}" type="presOf" srcId="{7517DBBB-622E-4561-88A8-2A2A8F1A4278}" destId="{DCEB0D7E-36FA-41BF-BC7C-97918F759CF2}" srcOrd="1" destOrd="0" presId="urn:microsoft.com/office/officeart/2005/8/layout/process1"/>
    <dgm:cxn modelId="{E1579FC8-4280-45BE-BA78-DB68F57E15F4}" type="presOf" srcId="{36ECC778-B273-477C-93E2-48033335AE14}" destId="{EF3A0723-A160-4BAD-B775-6DDFDB534BDD}" srcOrd="0" destOrd="0" presId="urn:microsoft.com/office/officeart/2005/8/layout/process1"/>
    <dgm:cxn modelId="{4967AD45-8E76-4536-A4E1-94E584617805}" type="presOf" srcId="{D4FC06E6-B046-4DF3-87D5-EBB9AA68D61D}" destId="{FDFF160E-59AB-4993-9F6B-F2BF464795CD}" srcOrd="0" destOrd="0" presId="urn:microsoft.com/office/officeart/2005/8/layout/process1"/>
    <dgm:cxn modelId="{1DF3BF97-8B77-47BB-805C-8CE4C84E9AC4}" srcId="{36ECC778-B273-477C-93E2-48033335AE14}" destId="{D4FC06E6-B046-4DF3-87D5-EBB9AA68D61D}" srcOrd="0" destOrd="0" parTransId="{2B9D924D-F71B-4FA7-96D8-2089D79A92C6}" sibTransId="{7517DBBB-622E-4561-88A8-2A2A8F1A4278}"/>
    <dgm:cxn modelId="{FF6DE06A-AFC2-4199-8153-B7D453407B3B}" type="presOf" srcId="{E5CB92B0-D0B7-423D-A36A-D8395B902D87}" destId="{DE2AE5E8-6777-4079-9CFB-54E46CAB0BDA}" srcOrd="0" destOrd="0" presId="urn:microsoft.com/office/officeart/2005/8/layout/process1"/>
    <dgm:cxn modelId="{F2FC6E15-250A-4C94-858D-EA511A608AA9}" srcId="{36ECC778-B273-477C-93E2-48033335AE14}" destId="{4AFCB3B8-98EE-41D0-BD18-D48B0E86DD30}" srcOrd="2" destOrd="0" parTransId="{7B477133-FF1B-4AC5-8CA7-CDD7948AFA63}" sibTransId="{40BB1E6A-20BE-44B2-B6EC-B5D4156E1AAC}"/>
    <dgm:cxn modelId="{870FE59D-0797-4FAA-BA19-1610E1301011}" type="presOf" srcId="{7517DBBB-622E-4561-88A8-2A2A8F1A4278}" destId="{09672996-D9B3-4D00-86A4-8FE02000EC01}" srcOrd="0" destOrd="0" presId="urn:microsoft.com/office/officeart/2005/8/layout/process1"/>
    <dgm:cxn modelId="{016FD8C5-98AA-4D55-9FCB-47A217007CF1}" type="presParOf" srcId="{EF3A0723-A160-4BAD-B775-6DDFDB534BDD}" destId="{FDFF160E-59AB-4993-9F6B-F2BF464795CD}" srcOrd="0" destOrd="0" presId="urn:microsoft.com/office/officeart/2005/8/layout/process1"/>
    <dgm:cxn modelId="{A16535BD-1850-43C1-8F50-74D0C1675784}" type="presParOf" srcId="{EF3A0723-A160-4BAD-B775-6DDFDB534BDD}" destId="{09672996-D9B3-4D00-86A4-8FE02000EC01}" srcOrd="1" destOrd="0" presId="urn:microsoft.com/office/officeart/2005/8/layout/process1"/>
    <dgm:cxn modelId="{7D919F12-86A3-416A-90DB-09FC4B11E116}" type="presParOf" srcId="{09672996-D9B3-4D00-86A4-8FE02000EC01}" destId="{DCEB0D7E-36FA-41BF-BC7C-97918F759CF2}" srcOrd="0" destOrd="0" presId="urn:microsoft.com/office/officeart/2005/8/layout/process1"/>
    <dgm:cxn modelId="{16DA4351-708F-449B-9A24-9B57F35B9FA0}" type="presParOf" srcId="{EF3A0723-A160-4BAD-B775-6DDFDB534BDD}" destId="{DE2AE5E8-6777-4079-9CFB-54E46CAB0BDA}" srcOrd="2" destOrd="0" presId="urn:microsoft.com/office/officeart/2005/8/layout/process1"/>
    <dgm:cxn modelId="{420F8244-8BE3-4202-9DEB-836F6EF0EB6A}" type="presParOf" srcId="{EF3A0723-A160-4BAD-B775-6DDFDB534BDD}" destId="{96C5B77A-CA7C-48C8-8AEB-A06C2025D553}" srcOrd="3" destOrd="0" presId="urn:microsoft.com/office/officeart/2005/8/layout/process1"/>
    <dgm:cxn modelId="{96933788-1430-42A5-904D-F2A841B6550E}" type="presParOf" srcId="{96C5B77A-CA7C-48C8-8AEB-A06C2025D553}" destId="{050DC7C0-694D-4737-83ED-8C32FC79B4C6}" srcOrd="0" destOrd="0" presId="urn:microsoft.com/office/officeart/2005/8/layout/process1"/>
    <dgm:cxn modelId="{67D0983C-6EDF-477A-9F4E-7CA770FD81F3}" type="presParOf" srcId="{EF3A0723-A160-4BAD-B775-6DDFDB534BDD}" destId="{AB504E4D-1BD3-4A56-A5C4-E7AC4027DA44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2630E4-9B84-461B-B498-CCB91B69D2EB}" type="doc">
      <dgm:prSet loTypeId="urn:microsoft.com/office/officeart/2005/8/layout/process1" loCatId="process" qsTypeId="urn:microsoft.com/office/officeart/2005/8/quickstyle/simple1" qsCatId="simple" csTypeId="urn:microsoft.com/office/officeart/2005/8/colors/accent0_1" csCatId="mainScheme" phldr="1"/>
      <dgm:spPr/>
    </dgm:pt>
    <dgm:pt modelId="{CC3CAA23-3977-42D6-852F-226452B4234F}">
      <dgm:prSet phldrT="[Text]" custT="1"/>
      <dgm:spPr/>
      <dgm:t>
        <a:bodyPr/>
        <a:lstStyle/>
        <a:p>
          <a:pPr algn="ctr"/>
          <a:r>
            <a: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4. Proposed Method</a:t>
          </a:r>
        </a:p>
        <a:p>
          <a:pPr algn="ctr"/>
          <a:endParaRPr lang="en-US" sz="14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-change-aware feature extraction</a:t>
          </a:r>
        </a:p>
        <a:p>
          <a:pPr algn="l"/>
          <a:r>
            <a:rPr 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-lightweight temporal fusion</a:t>
          </a:r>
        </a:p>
        <a:p>
          <a:pPr algn="l"/>
          <a:r>
            <a:rPr lang="en-US" sz="1400" b="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-frame-drop augmentation</a:t>
          </a:r>
          <a:endParaRPr lang="en-US" sz="14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ctr"/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8B7DCAF-69A1-4795-8D30-AF78A52C1D49}" type="parTrans" cxnId="{3F070200-516D-45C2-A897-09E0FC975FA6}">
      <dgm:prSet/>
      <dgm:spPr/>
      <dgm:t>
        <a:bodyPr/>
        <a:lstStyle/>
        <a:p>
          <a:endParaRPr lang="en-US"/>
        </a:p>
      </dgm:t>
    </dgm:pt>
    <dgm:pt modelId="{C6C104E7-708E-4B44-9F9F-7879158433C9}" type="sibTrans" cxnId="{3F070200-516D-45C2-A897-09E0FC975FA6}">
      <dgm:prSet/>
      <dgm:spPr/>
      <dgm:t>
        <a:bodyPr/>
        <a:lstStyle/>
        <a:p>
          <a:endParaRPr lang="en-US"/>
        </a:p>
      </dgm:t>
    </dgm:pt>
    <dgm:pt modelId="{61AD620C-7BE1-4412-9EEE-FB5C5BA6AD28}">
      <dgm:prSet phldrT="[Text]" custT="1"/>
      <dgm:spPr/>
      <dgm:t>
        <a:bodyPr/>
        <a:lstStyle/>
        <a:p>
          <a:pPr algn="ctr"/>
          <a:r>
            <a:rPr lang="en-US" sz="1400" b="1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5. Evaluation</a:t>
          </a:r>
        </a:p>
        <a:p>
          <a:pPr algn="ctr"/>
          <a:endParaRPr lang="en-US" sz="14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r>
            <a: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-Accuracy</a:t>
          </a:r>
        </a:p>
        <a:p>
          <a:pPr algn="l"/>
          <a:endParaRPr lang="en-US" sz="14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endParaRPr lang="en-US" sz="14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endParaRPr lang="en-US" sz="14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endParaRPr lang="en-US" sz="14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/>
          <a:endParaRPr lang="en-US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73C5CBA-444B-4F7D-90D0-C2588711D057}" type="parTrans" cxnId="{80747E7A-08A0-4358-A32F-908A89D2F073}">
      <dgm:prSet/>
      <dgm:spPr/>
      <dgm:t>
        <a:bodyPr/>
        <a:lstStyle/>
        <a:p>
          <a:endParaRPr lang="en-US"/>
        </a:p>
      </dgm:t>
    </dgm:pt>
    <dgm:pt modelId="{0FC45776-4B62-41B0-B779-3ED55F091D35}" type="sibTrans" cxnId="{80747E7A-08A0-4358-A32F-908A89D2F073}">
      <dgm:prSet/>
      <dgm:spPr/>
      <dgm:t>
        <a:bodyPr/>
        <a:lstStyle/>
        <a:p>
          <a:endParaRPr lang="en-US"/>
        </a:p>
      </dgm:t>
    </dgm:pt>
    <dgm:pt modelId="{367EFD2A-E2AE-4444-9DFA-7B820E415932}" type="pres">
      <dgm:prSet presAssocID="{3D2630E4-9B84-461B-B498-CCB91B69D2EB}" presName="Name0" presStyleCnt="0">
        <dgm:presLayoutVars>
          <dgm:dir/>
          <dgm:resizeHandles val="exact"/>
        </dgm:presLayoutVars>
      </dgm:prSet>
      <dgm:spPr/>
    </dgm:pt>
    <dgm:pt modelId="{FCFC580F-8225-4AAA-9C35-95C27EE67B72}" type="pres">
      <dgm:prSet presAssocID="{CC3CAA23-3977-42D6-852F-226452B4234F}" presName="node" presStyleLbl="node1" presStyleIdx="0" presStyleCnt="2" custScaleX="111489" custScaleY="138934" custLinFactNeighborX="-39" custLinFactNeighborY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D4D9FE-EBA1-4915-B136-AEA53F4539BA}" type="pres">
      <dgm:prSet presAssocID="{C6C104E7-708E-4B44-9F9F-7879158433C9}" presName="sibTrans" presStyleLbl="sibTrans2D1" presStyleIdx="0" presStyleCnt="1" custAng="21486479" custScaleX="131840" custScaleY="167258" custLinFactNeighborX="-12175" custLinFactNeighborY="-4865"/>
      <dgm:spPr/>
      <dgm:t>
        <a:bodyPr/>
        <a:lstStyle/>
        <a:p>
          <a:endParaRPr lang="en-US"/>
        </a:p>
      </dgm:t>
    </dgm:pt>
    <dgm:pt modelId="{9C5DA578-87DA-4F88-AAE5-1942B8756C81}" type="pres">
      <dgm:prSet presAssocID="{C6C104E7-708E-4B44-9F9F-7879158433C9}" presName="connectorText" presStyleLbl="sibTrans2D1" presStyleIdx="0" presStyleCnt="1"/>
      <dgm:spPr/>
      <dgm:t>
        <a:bodyPr/>
        <a:lstStyle/>
        <a:p>
          <a:endParaRPr lang="en-US"/>
        </a:p>
      </dgm:t>
    </dgm:pt>
    <dgm:pt modelId="{24627AA9-FB3C-4325-84A4-F3751602AB31}" type="pres">
      <dgm:prSet presAssocID="{61AD620C-7BE1-4412-9EEE-FB5C5BA6AD28}" presName="node" presStyleLbl="node1" presStyleIdx="1" presStyleCnt="2" custScaleX="113717" custScaleY="138934" custLinFactNeighborX="-35167" custLinFactNeighborY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101E8849-EE52-44C9-AD0A-C29894A75A76}" type="presOf" srcId="{C6C104E7-708E-4B44-9F9F-7879158433C9}" destId="{9C5DA578-87DA-4F88-AAE5-1942B8756C81}" srcOrd="1" destOrd="0" presId="urn:microsoft.com/office/officeart/2005/8/layout/process1"/>
    <dgm:cxn modelId="{2793650C-1437-42D0-8192-26BB19212AC3}" type="presOf" srcId="{C6C104E7-708E-4B44-9F9F-7879158433C9}" destId="{72D4D9FE-EBA1-4915-B136-AEA53F4539BA}" srcOrd="0" destOrd="0" presId="urn:microsoft.com/office/officeart/2005/8/layout/process1"/>
    <dgm:cxn modelId="{3F070200-516D-45C2-A897-09E0FC975FA6}" srcId="{3D2630E4-9B84-461B-B498-CCB91B69D2EB}" destId="{CC3CAA23-3977-42D6-852F-226452B4234F}" srcOrd="0" destOrd="0" parTransId="{78B7DCAF-69A1-4795-8D30-AF78A52C1D49}" sibTransId="{C6C104E7-708E-4B44-9F9F-7879158433C9}"/>
    <dgm:cxn modelId="{79BFA5FE-0C22-4B2E-AAFF-38DA6D1A5DAC}" type="presOf" srcId="{61AD620C-7BE1-4412-9EEE-FB5C5BA6AD28}" destId="{24627AA9-FB3C-4325-84A4-F3751602AB31}" srcOrd="0" destOrd="0" presId="urn:microsoft.com/office/officeart/2005/8/layout/process1"/>
    <dgm:cxn modelId="{F9AC3257-4211-477D-9DBC-564A81072FF3}" type="presOf" srcId="{CC3CAA23-3977-42D6-852F-226452B4234F}" destId="{FCFC580F-8225-4AAA-9C35-95C27EE67B72}" srcOrd="0" destOrd="0" presId="urn:microsoft.com/office/officeart/2005/8/layout/process1"/>
    <dgm:cxn modelId="{B5065DC4-FCCD-4F25-BA4D-D897D8D91873}" type="presOf" srcId="{3D2630E4-9B84-461B-B498-CCB91B69D2EB}" destId="{367EFD2A-E2AE-4444-9DFA-7B820E415932}" srcOrd="0" destOrd="0" presId="urn:microsoft.com/office/officeart/2005/8/layout/process1"/>
    <dgm:cxn modelId="{80747E7A-08A0-4358-A32F-908A89D2F073}" srcId="{3D2630E4-9B84-461B-B498-CCB91B69D2EB}" destId="{61AD620C-7BE1-4412-9EEE-FB5C5BA6AD28}" srcOrd="1" destOrd="0" parTransId="{973C5CBA-444B-4F7D-90D0-C2588711D057}" sibTransId="{0FC45776-4B62-41B0-B779-3ED55F091D35}"/>
    <dgm:cxn modelId="{6E3ADE94-A1E5-4E50-B0DB-A1433B55BED2}" type="presParOf" srcId="{367EFD2A-E2AE-4444-9DFA-7B820E415932}" destId="{FCFC580F-8225-4AAA-9C35-95C27EE67B72}" srcOrd="0" destOrd="0" presId="urn:microsoft.com/office/officeart/2005/8/layout/process1"/>
    <dgm:cxn modelId="{FE6D6984-992D-40C6-8F42-2501E8D322F8}" type="presParOf" srcId="{367EFD2A-E2AE-4444-9DFA-7B820E415932}" destId="{72D4D9FE-EBA1-4915-B136-AEA53F4539BA}" srcOrd="1" destOrd="0" presId="urn:microsoft.com/office/officeart/2005/8/layout/process1"/>
    <dgm:cxn modelId="{3B5B07B0-3ECB-4A92-8F5A-3280075C4DC1}" type="presParOf" srcId="{72D4D9FE-EBA1-4915-B136-AEA53F4539BA}" destId="{9C5DA578-87DA-4F88-AAE5-1942B8756C81}" srcOrd="0" destOrd="0" presId="urn:microsoft.com/office/officeart/2005/8/layout/process1"/>
    <dgm:cxn modelId="{AE65BA49-8EF0-4FA5-8277-CC6E5BBA9A47}" type="presParOf" srcId="{367EFD2A-E2AE-4444-9DFA-7B820E415932}" destId="{24627AA9-FB3C-4325-84A4-F3751602AB31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FF160E-59AB-4993-9F6B-F2BF464795CD}">
      <dsp:nvSpPr>
        <dsp:cNvPr id="0" name=""/>
        <dsp:cNvSpPr/>
      </dsp:nvSpPr>
      <dsp:spPr>
        <a:xfrm>
          <a:off x="0" y="0"/>
          <a:ext cx="1923718" cy="28282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1. Frame Selection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-recent-window selection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--random sampling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-paired early/late selection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344" y="56344"/>
        <a:ext cx="1811030" cy="2715547"/>
      </dsp:txXfrm>
    </dsp:sp>
    <dsp:sp modelId="{09672996-D9B3-4D00-86A4-8FE02000EC01}">
      <dsp:nvSpPr>
        <dsp:cNvPr id="0" name=""/>
        <dsp:cNvSpPr/>
      </dsp:nvSpPr>
      <dsp:spPr>
        <a:xfrm>
          <a:off x="1982695" y="1141128"/>
          <a:ext cx="358568" cy="606433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600" kern="1200"/>
        </a:p>
      </dsp:txBody>
      <dsp:txXfrm>
        <a:off x="1982695" y="1262415"/>
        <a:ext cx="250998" cy="363859"/>
      </dsp:txXfrm>
    </dsp:sp>
    <dsp:sp modelId="{DE2AE5E8-6777-4079-9CFB-54E46CAB0BDA}">
      <dsp:nvSpPr>
        <dsp:cNvPr id="0" name=""/>
        <dsp:cNvSpPr/>
      </dsp:nvSpPr>
      <dsp:spPr>
        <a:xfrm>
          <a:off x="2403612" y="0"/>
          <a:ext cx="1923718" cy="28282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2. Preprocessing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 -checking temporal order and metadata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-resizing image patches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-normalizing images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-handling missing or corrupted frames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59956" y="56344"/>
        <a:ext cx="1811030" cy="2715547"/>
      </dsp:txXfrm>
    </dsp:sp>
    <dsp:sp modelId="{96C5B77A-CA7C-48C8-8AEB-A06C2025D553}">
      <dsp:nvSpPr>
        <dsp:cNvPr id="0" name=""/>
        <dsp:cNvSpPr/>
      </dsp:nvSpPr>
      <dsp:spPr>
        <a:xfrm>
          <a:off x="4383079" y="1101809"/>
          <a:ext cx="369814" cy="662810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800" kern="1200"/>
        </a:p>
      </dsp:txBody>
      <dsp:txXfrm>
        <a:off x="4383079" y="1234371"/>
        <a:ext cx="258870" cy="397686"/>
      </dsp:txXfrm>
    </dsp:sp>
    <dsp:sp modelId="{AB504E4D-1BD3-4A56-A5C4-E7AC4027DA44}">
      <dsp:nvSpPr>
        <dsp:cNvPr id="0" name=""/>
        <dsp:cNvSpPr/>
      </dsp:nvSpPr>
      <dsp:spPr>
        <a:xfrm>
          <a:off x="4847747" y="0"/>
          <a:ext cx="1923718" cy="282823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3. Baseline Comparison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6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-single-frame CNN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-two-frame change-based model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-short temporal pooling model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-lightweight temporal fusion model</a:t>
          </a:r>
          <a:endParaRPr lang="en-US" sz="16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904091" y="56344"/>
        <a:ext cx="1811030" cy="27155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FC580F-8225-4AAA-9C35-95C27EE67B72}">
      <dsp:nvSpPr>
        <dsp:cNvPr id="0" name=""/>
        <dsp:cNvSpPr/>
      </dsp:nvSpPr>
      <dsp:spPr>
        <a:xfrm>
          <a:off x="461" y="492768"/>
          <a:ext cx="1862186" cy="28282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4. Proposed Method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-change-aware feature extraction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-lightweight temporal fusion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-frame-drop augmentation</a:t>
          </a:r>
          <a:endParaRPr lang="en-US" sz="14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003" y="547310"/>
        <a:ext cx="1753102" cy="2719142"/>
      </dsp:txXfrm>
    </dsp:sp>
    <dsp:sp modelId="{72D4D9FE-EBA1-4915-B136-AEA53F4539BA}">
      <dsp:nvSpPr>
        <dsp:cNvPr id="0" name=""/>
        <dsp:cNvSpPr/>
      </dsp:nvSpPr>
      <dsp:spPr>
        <a:xfrm rot="21486479">
          <a:off x="1912195" y="1540311"/>
          <a:ext cx="342457" cy="692834"/>
        </a:xfrm>
        <a:prstGeom prst="righ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900" kern="1200"/>
        </a:p>
      </dsp:txBody>
      <dsp:txXfrm>
        <a:off x="1912223" y="1680574"/>
        <a:ext cx="239720" cy="415700"/>
      </dsp:txXfrm>
    </dsp:sp>
    <dsp:sp modelId="{24627AA9-FB3C-4325-84A4-F3751602AB31}">
      <dsp:nvSpPr>
        <dsp:cNvPr id="0" name=""/>
        <dsp:cNvSpPr/>
      </dsp:nvSpPr>
      <dsp:spPr>
        <a:xfrm>
          <a:off x="2352747" y="492768"/>
          <a:ext cx="1899400" cy="282822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5. Evaluation</a:t>
          </a:r>
        </a:p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 smtClean="0">
              <a:latin typeface="Times New Roman" panose="02020603050405020304" pitchFamily="18" charset="0"/>
              <a:cs typeface="Times New Roman" panose="02020603050405020304" pitchFamily="18" charset="0"/>
            </a:rPr>
            <a:t>-Accuracy</a:t>
          </a: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 smtClean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lvl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408379" y="548400"/>
        <a:ext cx="1788136" cy="27169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DEC9B3-68B2-4A38-BBB0-B420615619C1}" type="datetimeFigureOut">
              <a:rPr lang="en-US" smtClean="0"/>
              <a:t>4/25/2026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1B2C9B-D79B-4F59-A7AC-D959D39225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637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C986C-F40B-409C-AC1B-98AC51FA01CA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835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FC07A-5698-47EB-BD42-FCEF9DEE3C35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41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4E82A-6DEF-4626-8185-F34E56FF3D9D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29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D9C12-88F6-4424-9820-CF331D0D43AD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341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6F4B6-D065-4A21-998F-A1BC15D356E6}" type="datetime1">
              <a:rPr lang="en-US" smtClean="0"/>
              <a:t>4/25/2026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2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1200F-5AE8-45D2-92A1-9F819DE48CB7}" type="datetime1">
              <a:rPr lang="en-US" smtClean="0"/>
              <a:t>4/25/2026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4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DD4E5-62FD-4B97-BE62-DCC235D3ACF5}" type="datetime1">
              <a:rPr lang="en-US" smtClean="0"/>
              <a:t>4/25/2026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3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1E86-39E9-41D6-9E18-3621733B7C3B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54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002EE-01BB-4662-B991-18F58226A9C2}" type="datetime1">
              <a:rPr lang="en-US" smtClean="0"/>
              <a:t>4/25/2026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472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895CB-FCA7-4AAF-B46F-BCA875849B75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56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F8841-0879-4BC6-B1CE-2A1D8BD854E6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5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22057-C6FB-4B78-AC92-D426BB05BBE3}" type="datetime1">
              <a:rPr lang="en-US" smtClean="0"/>
              <a:t>4/25/2026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48ECED-1EFB-46A2-8FDD-8C983452CC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1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4896" y="1632857"/>
            <a:ext cx="10786272" cy="1877106"/>
          </a:xfrm>
        </p:spPr>
        <p:txBody>
          <a:bodyPr>
            <a:normAutofit/>
          </a:bodyPr>
          <a:lstStyle/>
          <a:p>
            <a:r>
              <a:rPr lang="en-US" sz="4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LOOTING DETECTION USING SATELLITE IMAGES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29804" y="5535827"/>
            <a:ext cx="4596292" cy="1180070"/>
          </a:xfrm>
        </p:spPr>
        <p:txBody>
          <a:bodyPr>
            <a:noAutofit/>
          </a:bodyPr>
          <a:lstStyle/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2022/E/037- WICKRAMASINGHE G.A.G.M.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2022/E/042- RANASINGHE G.D.P.D.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614896" y="5737654"/>
            <a:ext cx="3875462" cy="7764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en-US" sz="1800" dirty="0">
                <a:solidFill>
                  <a:srgbClr val="EEECE1">
                    <a:lumMod val="2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:  </a:t>
            </a:r>
            <a:r>
              <a:rPr 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P. Jeyananthan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Co-Supervisor </a:t>
            </a:r>
            <a:r>
              <a:rPr lang="en-US" sz="1800" dirty="0">
                <a:solidFill>
                  <a:srgbClr val="EEECE1">
                    <a:lumMod val="2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en-US" sz="18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Ms. V. Aarthy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167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151" y="136525"/>
            <a:ext cx="10101649" cy="1277063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88541"/>
            <a:ext cx="10515600" cy="5458911"/>
          </a:xfrm>
        </p:spPr>
        <p:txBody>
          <a:bodyPr>
            <a:noAutofit/>
          </a:bodyPr>
          <a:lstStyle/>
          <a:p>
            <a:pPr marL="949326" lvl="1" indent="-5715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Introduction</a:t>
            </a:r>
          </a:p>
          <a:p>
            <a:pPr marL="949326" lvl="1" indent="-5715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Aim</a:t>
            </a:r>
          </a:p>
          <a:p>
            <a:pPr marL="949326" lvl="1" indent="-5715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Objectives</a:t>
            </a:r>
          </a:p>
          <a:p>
            <a:pPr marL="949326" lvl="1" indent="-5715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 smtClean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Scope</a:t>
            </a:r>
            <a:endParaRPr lang="en-US" sz="1800" dirty="0">
              <a:latin typeface="Times New Roman" panose="02020603050405020304" pitchFamily="18" charset="0"/>
              <a:ea typeface="Montserrat Classic"/>
              <a:cs typeface="Times New Roman" panose="02020603050405020304" pitchFamily="18" charset="0"/>
              <a:sym typeface="Montserrat Classic"/>
            </a:endParaRPr>
          </a:p>
          <a:p>
            <a:pPr marL="949326" lvl="1" indent="-5715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Literature Review</a:t>
            </a:r>
          </a:p>
          <a:p>
            <a:pPr marL="949326" lvl="1" indent="-5715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State-of-the-art</a:t>
            </a:r>
          </a:p>
          <a:p>
            <a:pPr marL="949326" lvl="1" indent="-5715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Research Gaps</a:t>
            </a:r>
          </a:p>
          <a:p>
            <a:pPr marL="949326" lvl="1" indent="-5715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Time-Line</a:t>
            </a:r>
          </a:p>
          <a:p>
            <a:pPr marL="949326" lvl="1" indent="-5715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References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4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>
            <a:spLocks noGrp="1"/>
          </p:cNvSpPr>
          <p:nvPr/>
        </p:nvSpPr>
        <p:spPr>
          <a:xfrm>
            <a:off x="838200" y="36997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6" name="Content Placeholder 2"/>
          <p:cNvSpPr>
            <a:spLocks noGrp="1"/>
          </p:cNvSpPr>
          <p:nvPr/>
        </p:nvSpPr>
        <p:spPr>
          <a:xfrm>
            <a:off x="838200" y="1219200"/>
            <a:ext cx="10515600" cy="493354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Archaeological Looting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Illegal removal of artifacts that permanently damages cultural heritage.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Looting Detection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sites are remote or located in conflict-affected regions.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surveys are costly, risky, and time-consuming.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Satellite Imagery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large-scale and long-term monitoring.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temporal changes in inaccessible areas.</a:t>
            </a:r>
          </a:p>
          <a:p>
            <a:pPr marL="0" indent="0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Challenge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Looting produces subtle visual changes that are difficult to detect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4249921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413"/>
            <a:ext cx="10515600" cy="78817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Aim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2956"/>
            <a:ext cx="10515600" cy="730519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method using satellite imagery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detect looting archaeological sites.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1730288"/>
            <a:ext cx="10515600" cy="8843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Scope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4387892"/>
            <a:ext cx="10515600" cy="1574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satellite images of archaeological sites over time.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deep learning models for looting classification.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and reliability of automated looting detection.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3494851"/>
            <a:ext cx="10515600" cy="799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ea typeface="Montserrat Classic"/>
                <a:cs typeface="Times New Roman" panose="02020603050405020304" pitchFamily="18" charset="0"/>
                <a:sym typeface="Montserrat Classic"/>
              </a:rPr>
              <a:t>Objectives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5268096"/>
            <a:ext cx="10515600" cy="988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38200" y="2625079"/>
            <a:ext cx="10515600" cy="990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focuses on detecting archaeological looting using short-term satellite images and deep learning models in selected sites.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267068"/>
            <a:ext cx="4114800" cy="365125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6865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87209" y="-364242"/>
            <a:ext cx="7438954" cy="1325563"/>
          </a:xfrm>
        </p:spPr>
        <p:txBody>
          <a:bodyPr>
            <a:normAutofit/>
          </a:bodyPr>
          <a:lstStyle/>
          <a:p>
            <a:pPr algn="ctr">
              <a:lnSpc>
                <a:spcPts val="9000"/>
              </a:lnSpc>
            </a:pPr>
            <a:r>
              <a:rPr lang="en-US" sz="3600" b="1" dirty="0">
                <a:latin typeface="Times New Roman" panose="02020603050405020304" pitchFamily="18" charset="0"/>
                <a:ea typeface="Montserrat Classic Bold"/>
                <a:cs typeface="Times New Roman" panose="02020603050405020304" pitchFamily="18" charset="0"/>
                <a:sym typeface="Montserrat Classic Bold"/>
              </a:rPr>
              <a:t>LITERATURE REVIEW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441658"/>
              </p:ext>
            </p:extLst>
          </p:nvPr>
        </p:nvGraphicFramePr>
        <p:xfrm>
          <a:off x="533400" y="728962"/>
          <a:ext cx="11263185" cy="55439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54180">
                  <a:extLst>
                    <a:ext uri="{9D8B030D-6E8A-4147-A177-3AD203B41FA5}">
                      <a16:colId xmlns:a16="http://schemas.microsoft.com/office/drawing/2014/main" val="136948532"/>
                    </a:ext>
                  </a:extLst>
                </a:gridCol>
                <a:gridCol w="2781554">
                  <a:extLst>
                    <a:ext uri="{9D8B030D-6E8A-4147-A177-3AD203B41FA5}">
                      <a16:colId xmlns:a16="http://schemas.microsoft.com/office/drawing/2014/main" val="2811973235"/>
                    </a:ext>
                  </a:extLst>
                </a:gridCol>
                <a:gridCol w="3750884">
                  <a:extLst>
                    <a:ext uri="{9D8B030D-6E8A-4147-A177-3AD203B41FA5}">
                      <a16:colId xmlns:a16="http://schemas.microsoft.com/office/drawing/2014/main" val="1749814666"/>
                    </a:ext>
                  </a:extLst>
                </a:gridCol>
                <a:gridCol w="3076567">
                  <a:extLst>
                    <a:ext uri="{9D8B030D-6E8A-4147-A177-3AD203B41FA5}">
                      <a16:colId xmlns:a16="http://schemas.microsoft.com/office/drawing/2014/main" val="2150481261"/>
                    </a:ext>
                  </a:extLst>
                </a:gridCol>
              </a:tblGrid>
              <a:tr h="651307">
                <a:tc>
                  <a:txBody>
                    <a:bodyPr/>
                    <a:lstStyle/>
                    <a:p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number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Results</a:t>
                      </a:r>
                      <a:endParaRPr lang="en-US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649762"/>
                  </a:ext>
                </a:extLst>
              </a:tr>
              <a:tr h="1135754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COSMO-</a:t>
                      </a:r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SkyMed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Digital Elevation Models(DEM), Sentinel-2 images, old CORONA images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High-resolution radar DEM and satellite images are analyzed in Geographic Information System (GIS) to visually identify mounds and looting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Looting has happened in 42% of the places from the identified places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849508"/>
                  </a:ext>
                </a:extLst>
              </a:tr>
              <a:tr h="1135754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Open-source Sentinel-1 SAR data and Sentinal-2 optical satellite images are used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 is used to detect ground surface changes, and machine learning</a:t>
                      </a:r>
                      <a:r>
                        <a:rPr lang="en-US" sz="16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 used to identify looting patterns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G-mean value of Palmyra is 0.863  And G-mean value of Ain Dara is 0.984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959625"/>
                  </a:ext>
                </a:extLst>
              </a:tr>
              <a:tr h="1310487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TerraSAR</a:t>
                      </a:r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-X  SAR satellite images, 3D photogrammetric models of looting holes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 simulation is used to model how looting holes appear in radar images and to analyze their detectability under different imaging conditions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 simulation shows that small-scale looting holes can be detected in high-resolution SAR images, depending on hole geometry and imaging conditions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713351"/>
                  </a:ext>
                </a:extLst>
              </a:tr>
              <a:tr h="1310487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  <a:endParaRPr lang="en-US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Sentinel-2 satellite images combined with site coordinates and metadata from the EAMENA database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learning(Random Forest) is used to automatically detect changes between satellite images over time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85–91% overall accuracy</a:t>
                      </a: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4535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48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863" y="1139480"/>
            <a:ext cx="10515600" cy="1306286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Vincent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Saroufim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Chemla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Ubelmann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Y., Marquis, P., Ponce, J. and Aubry, M., 2025.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Looted Archaeological Sites from Satellite Image Time Series.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 Proceedings of the Computer Vision and Pattern Recognition Conference (pp. 2296-2307).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709863" y="2278141"/>
            <a:ext cx="11097986" cy="3680208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aim is to detect looted archaeological sites by analyzing changes in satellite images over time.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 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DAFA-LS is a labelled satellite image time-series dataset.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Foundation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 and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temporal attenuation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 are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detect looting from satellite image time series.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 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Dynamic One-For-All (DOFA) combined with Long-Term Attention Encoder (LTAE) achieved the best performance, with 78.7% accuracy, 74.9% F1-score, and 87.1% AUROC (Area Under the Receiver Operating Characteristic curve).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 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 areas around the sites and uses only supervised methods.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-817279" y="0"/>
            <a:ext cx="755268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9000"/>
              </a:lnSpc>
            </a:pPr>
            <a:r>
              <a:rPr lang="en-US" sz="3600" b="1" dirty="0" smtClean="0">
                <a:latin typeface="Times New Roman" panose="02020603050405020304" pitchFamily="18" charset="0"/>
                <a:ea typeface="Montserrat Classic Bold"/>
                <a:cs typeface="Times New Roman" panose="02020603050405020304" pitchFamily="18" charset="0"/>
                <a:sym typeface="Montserrat Classic Bold"/>
              </a:rPr>
              <a:t>STATE-OF-THE-ART</a:t>
            </a:r>
            <a:endParaRPr lang="en-US" sz="3600" b="1" dirty="0">
              <a:latin typeface="Times New Roman" panose="02020603050405020304" pitchFamily="18" charset="0"/>
              <a:ea typeface="Montserrat Classic Bold"/>
              <a:cs typeface="Times New Roman" panose="02020603050405020304" pitchFamily="18" charset="0"/>
              <a:sym typeface="Montserrat Classic Bold"/>
            </a:endParaRPr>
          </a:p>
        </p:txBody>
      </p:sp>
    </p:spTree>
    <p:extLst>
      <p:ext uri="{BB962C8B-B14F-4D97-AF65-F5344CB8AC3E}">
        <p14:creationId xmlns:p14="http://schemas.microsoft.com/office/powerpoint/2010/main" val="1045145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1567" y="381940"/>
            <a:ext cx="10515600" cy="1325563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4AAD"/>
                </a:solidFill>
                <a:latin typeface="Times New Roman" panose="02020603050405020304" pitchFamily="18" charset="0"/>
                <a:ea typeface="Montserrat Classic Bold"/>
                <a:cs typeface="Times New Roman" panose="02020603050405020304" pitchFamily="18" charset="0"/>
                <a:sym typeface="Montserrat Classic Bold"/>
              </a:rPr>
              <a:t> </a:t>
            </a:r>
            <a:r>
              <a:rPr lang="en-US" sz="3600" b="1" dirty="0">
                <a:latin typeface="Times New Roman" panose="02020603050405020304" pitchFamily="18" charset="0"/>
                <a:ea typeface="Montserrat Classic Bold"/>
                <a:cs typeface="Times New Roman" panose="02020603050405020304" pitchFamily="18" charset="0"/>
                <a:sym typeface="Montserrat Classic Bold"/>
              </a:rPr>
              <a:t>RESEARCH GAP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980" y="1852127"/>
            <a:ext cx="10282335" cy="755779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Long Time-Series Data.</a:t>
            </a:r>
          </a:p>
          <a:p>
            <a:pPr marL="0" indent="0">
              <a:buNone/>
            </a:pP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09D096D-A5F3-09C8-E124-23FF0BE03A9D}"/>
              </a:ext>
            </a:extLst>
          </p:cNvPr>
          <p:cNvSpPr txBox="1">
            <a:spLocks/>
          </p:cNvSpPr>
          <p:nvPr/>
        </p:nvSpPr>
        <p:spPr>
          <a:xfrm>
            <a:off x="838200" y="2752531"/>
            <a:ext cx="10282335" cy="1866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state-of-the-art methods for archaeological looting detection rely on long satellite image time series. However such long-term temporal data are not always available for many archaeological sites. Therefore, there is a need for detection approaches that work effectively with limited satellite image time-series data.</a:t>
            </a:r>
          </a:p>
        </p:txBody>
      </p:sp>
    </p:spTree>
    <p:extLst>
      <p:ext uri="{BB962C8B-B14F-4D97-AF65-F5344CB8AC3E}">
        <p14:creationId xmlns:p14="http://schemas.microsoft.com/office/powerpoint/2010/main" val="188778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6675"/>
            <a:ext cx="10515600" cy="1065046"/>
          </a:xfrm>
        </p:spPr>
        <p:txBody>
          <a:bodyPr>
            <a:normAutofit fontScale="90000"/>
          </a:bodyPr>
          <a:lstStyle/>
          <a:p>
            <a:pPr>
              <a:lnSpc>
                <a:spcPts val="9000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r>
              <a:rPr lang="en-US" b="1" dirty="0" smtClean="0">
                <a:latin typeface="Times New Roman" panose="02020603050405020304" pitchFamily="18" charset="0"/>
                <a:ea typeface="Montserrat Classic Bold"/>
                <a:cs typeface="Times New Roman" panose="02020603050405020304" pitchFamily="18" charset="0"/>
                <a:sym typeface="Montserrat Classic Bold"/>
              </a:rPr>
              <a:t> </a:t>
            </a:r>
            <a:endParaRPr lang="en-US" b="1" dirty="0">
              <a:latin typeface="Times New Roman" panose="02020603050405020304" pitchFamily="18" charset="0"/>
              <a:ea typeface="Montserrat Classic Bold"/>
              <a:cs typeface="Times New Roman" panose="02020603050405020304" pitchFamily="18" charset="0"/>
              <a:sym typeface="Montserrat Classic Bold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49"/>
            <a:ext cx="4114800" cy="365125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723900" y="1460221"/>
            <a:ext cx="1074420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multi-temporal satellite image sequences of archaeological sites.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limited time-series setting to address the main research gap.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7029037" y="3899721"/>
            <a:ext cx="347286" cy="663458"/>
            <a:chOff x="4412541" y="962699"/>
            <a:chExt cx="347286" cy="663458"/>
          </a:xfrm>
          <a:solidFill>
            <a:schemeClr val="bg1">
              <a:lumMod val="65000"/>
            </a:schemeClr>
          </a:solidFill>
        </p:grpSpPr>
        <p:sp>
          <p:nvSpPr>
            <p:cNvPr id="22" name="Right Arrow 21"/>
            <p:cNvSpPr/>
            <p:nvPr/>
          </p:nvSpPr>
          <p:spPr>
            <a:xfrm>
              <a:off x="4412541" y="962699"/>
              <a:ext cx="347286" cy="663458"/>
            </a:xfrm>
            <a:prstGeom prst="rightArrow">
              <a:avLst>
                <a:gd name="adj1" fmla="val 60000"/>
                <a:gd name="adj2" fmla="val 50000"/>
              </a:avLst>
            </a:prstGeom>
            <a:grpFill/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ight Arrow 4"/>
            <p:cNvSpPr txBox="1"/>
            <p:nvPr/>
          </p:nvSpPr>
          <p:spPr>
            <a:xfrm>
              <a:off x="4412541" y="1095391"/>
              <a:ext cx="243100" cy="398074"/>
            </a:xfrm>
            <a:prstGeom prst="rect">
              <a:avLst/>
            </a:prstGeom>
            <a:grp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12446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2800" kern="1200"/>
            </a:p>
          </p:txBody>
        </p:sp>
      </p:grpSp>
      <p:grpSp>
        <p:nvGrpSpPr>
          <p:cNvPr id="6" name="Group 5"/>
          <p:cNvGrpSpPr/>
          <p:nvPr/>
        </p:nvGrpSpPr>
        <p:grpSpPr>
          <a:xfrm>
            <a:off x="219802" y="2324569"/>
            <a:ext cx="11761184" cy="3813763"/>
            <a:chOff x="219802" y="2324569"/>
            <a:chExt cx="11761184" cy="3813763"/>
          </a:xfrm>
        </p:grpSpPr>
        <p:graphicFrame>
          <p:nvGraphicFramePr>
            <p:cNvPr id="3" name="Diagram 2"/>
            <p:cNvGraphicFramePr/>
            <p:nvPr>
              <p:extLst>
                <p:ext uri="{D42A27DB-BD31-4B8C-83A1-F6EECF244321}">
                  <p14:modId xmlns:p14="http://schemas.microsoft.com/office/powerpoint/2010/main" val="3691660621"/>
                </p:ext>
              </p:extLst>
            </p:nvPr>
          </p:nvGraphicFramePr>
          <p:xfrm>
            <a:off x="219802" y="2817333"/>
            <a:ext cx="7330163" cy="2828235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graphicFrame>
          <p:nvGraphicFramePr>
            <p:cNvPr id="34" name="Diagram 33"/>
            <p:cNvGraphicFramePr/>
            <p:nvPr>
              <p:extLst>
                <p:ext uri="{D42A27DB-BD31-4B8C-83A1-F6EECF244321}">
                  <p14:modId xmlns:p14="http://schemas.microsoft.com/office/powerpoint/2010/main" val="1847526332"/>
                </p:ext>
              </p:extLst>
            </p:nvPr>
          </p:nvGraphicFramePr>
          <p:xfrm>
            <a:off x="7549966" y="2324569"/>
            <a:ext cx="4431020" cy="3813763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7" r:lo="rId8" r:qs="rId9" r:cs="rId10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259384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82245"/>
            <a:ext cx="10515600" cy="79311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5361"/>
            <a:ext cx="10515600" cy="427964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dataset: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DAFA-LS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labelled satellite image time-series dataset for looted archaeological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sites.</a:t>
            </a:r>
          </a:p>
          <a:p>
            <a:pPr marL="0" indent="0">
              <a:buNone/>
            </a:pP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199" y="2392680"/>
            <a:ext cx="2914943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multi-temporal satellite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looted / non-looted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site-based temporal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Multi-year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about 2016–2023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73879" y="2392680"/>
            <a:ext cx="2914944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dataset is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related to archaeological looting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time-series analysis</a:t>
            </a: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09560" y="2392680"/>
            <a:ext cx="295656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preparation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temporal ordering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invalid or poor-quality frames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image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normalize input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K-frame subsets for short time-series experiments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5525352"/>
            <a:ext cx="9235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dataset helps compare the proposed method with the existing state-of-the-art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approach.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95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D5AE5A-738A-4729-A04C-B86505FB45D6}"/>
              </a:ext>
            </a:extLst>
          </p:cNvPr>
          <p:cNvSpPr txBox="1"/>
          <p:nvPr/>
        </p:nvSpPr>
        <p:spPr>
          <a:xfrm>
            <a:off x="267479" y="0"/>
            <a:ext cx="4961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Time-Line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0AD9523-B206-44DF-8A01-472C562A14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8996622"/>
              </p:ext>
            </p:extLst>
          </p:nvPr>
        </p:nvGraphicFramePr>
        <p:xfrm>
          <a:off x="267479" y="830997"/>
          <a:ext cx="11675187" cy="52278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5245">
                  <a:extLst>
                    <a:ext uri="{9D8B030D-6E8A-4147-A177-3AD203B41FA5}">
                      <a16:colId xmlns:a16="http://schemas.microsoft.com/office/drawing/2014/main" val="1836279962"/>
                    </a:ext>
                  </a:extLst>
                </a:gridCol>
                <a:gridCol w="643812">
                  <a:extLst>
                    <a:ext uri="{9D8B030D-6E8A-4147-A177-3AD203B41FA5}">
                      <a16:colId xmlns:a16="http://schemas.microsoft.com/office/drawing/2014/main" val="3775356176"/>
                    </a:ext>
                  </a:extLst>
                </a:gridCol>
                <a:gridCol w="755779">
                  <a:extLst>
                    <a:ext uri="{9D8B030D-6E8A-4147-A177-3AD203B41FA5}">
                      <a16:colId xmlns:a16="http://schemas.microsoft.com/office/drawing/2014/main" val="3169725912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1726939054"/>
                    </a:ext>
                  </a:extLst>
                </a:gridCol>
                <a:gridCol w="802433">
                  <a:extLst>
                    <a:ext uri="{9D8B030D-6E8A-4147-A177-3AD203B41FA5}">
                      <a16:colId xmlns:a16="http://schemas.microsoft.com/office/drawing/2014/main" val="4122412298"/>
                    </a:ext>
                  </a:extLst>
                </a:gridCol>
                <a:gridCol w="700313">
                  <a:extLst>
                    <a:ext uri="{9D8B030D-6E8A-4147-A177-3AD203B41FA5}">
                      <a16:colId xmlns:a16="http://schemas.microsoft.com/office/drawing/2014/main" val="452009010"/>
                    </a:ext>
                  </a:extLst>
                </a:gridCol>
                <a:gridCol w="737118">
                  <a:extLst>
                    <a:ext uri="{9D8B030D-6E8A-4147-A177-3AD203B41FA5}">
                      <a16:colId xmlns:a16="http://schemas.microsoft.com/office/drawing/2014/main" val="1090277506"/>
                    </a:ext>
                  </a:extLst>
                </a:gridCol>
                <a:gridCol w="699796">
                  <a:extLst>
                    <a:ext uri="{9D8B030D-6E8A-4147-A177-3AD203B41FA5}">
                      <a16:colId xmlns:a16="http://schemas.microsoft.com/office/drawing/2014/main" val="167591368"/>
                    </a:ext>
                  </a:extLst>
                </a:gridCol>
                <a:gridCol w="634482">
                  <a:extLst>
                    <a:ext uri="{9D8B030D-6E8A-4147-A177-3AD203B41FA5}">
                      <a16:colId xmlns:a16="http://schemas.microsoft.com/office/drawing/2014/main" val="3115992399"/>
                    </a:ext>
                  </a:extLst>
                </a:gridCol>
                <a:gridCol w="643812">
                  <a:extLst>
                    <a:ext uri="{9D8B030D-6E8A-4147-A177-3AD203B41FA5}">
                      <a16:colId xmlns:a16="http://schemas.microsoft.com/office/drawing/2014/main" val="3000384990"/>
                    </a:ext>
                  </a:extLst>
                </a:gridCol>
                <a:gridCol w="733793">
                  <a:extLst>
                    <a:ext uri="{9D8B030D-6E8A-4147-A177-3AD203B41FA5}">
                      <a16:colId xmlns:a16="http://schemas.microsoft.com/office/drawing/2014/main" val="3991451620"/>
                    </a:ext>
                  </a:extLst>
                </a:gridCol>
                <a:gridCol w="658906">
                  <a:extLst>
                    <a:ext uri="{9D8B030D-6E8A-4147-A177-3AD203B41FA5}">
                      <a16:colId xmlns:a16="http://schemas.microsoft.com/office/drawing/2014/main" val="2402556560"/>
                    </a:ext>
                  </a:extLst>
                </a:gridCol>
                <a:gridCol w="800664">
                  <a:extLst>
                    <a:ext uri="{9D8B030D-6E8A-4147-A177-3AD203B41FA5}">
                      <a16:colId xmlns:a16="http://schemas.microsoft.com/office/drawing/2014/main" val="1684616253"/>
                    </a:ext>
                  </a:extLst>
                </a:gridCol>
                <a:gridCol w="875891">
                  <a:extLst>
                    <a:ext uri="{9D8B030D-6E8A-4147-A177-3AD203B41FA5}">
                      <a16:colId xmlns:a16="http://schemas.microsoft.com/office/drawing/2014/main" val="3664917705"/>
                    </a:ext>
                  </a:extLst>
                </a:gridCol>
              </a:tblGrid>
              <a:tr h="282108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 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 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Semester 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207735"/>
                  </a:ext>
                </a:extLst>
              </a:tr>
              <a:tr h="449091"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10-12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13-15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10-12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13-15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4-6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</a:t>
                      </a:r>
                    </a:p>
                    <a:p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7-8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4054874"/>
                  </a:ext>
                </a:extLst>
              </a:tr>
              <a:tr h="44909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684374"/>
                  </a:ext>
                </a:extLst>
              </a:tr>
              <a:tr h="44631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Bibliography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704910"/>
                  </a:ext>
                </a:extLst>
              </a:tr>
              <a:tr h="67927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Proposal making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531412"/>
                  </a:ext>
                </a:extLst>
              </a:tr>
              <a:tr h="67338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 and Preprocessing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4448516"/>
                  </a:ext>
                </a:extLst>
              </a:tr>
              <a:tr h="26218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implementation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4139105"/>
                  </a:ext>
                </a:extLst>
              </a:tr>
              <a:tr h="576522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Evaluation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1605588"/>
                  </a:ext>
                </a:extLst>
              </a:tr>
              <a:tr h="63857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Thesis Writing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854154"/>
                  </a:ext>
                </a:extLst>
              </a:tr>
              <a:tr h="54402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paper writing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762053"/>
                  </a:ext>
                </a:extLst>
              </a:tr>
            </a:tbl>
          </a:graphicData>
        </a:graphic>
      </p:graphicFrame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05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049" y="102637"/>
            <a:ext cx="10515600" cy="93306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ea typeface="Montserrat Classic Bold"/>
                <a:cs typeface="Times New Roman" panose="02020603050405020304" pitchFamily="18" charset="0"/>
                <a:sym typeface="Montserrat Classic Bold"/>
              </a:rPr>
              <a:t>REFERENCES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765" y="1035698"/>
            <a:ext cx="11422224" cy="50258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[1] 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Tapete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Traviglia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Delpozzo, E. and Cigna, F., 2021. Regional-scale systematic mapping of archaeological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mounds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detection of looting using COSMO-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SkyMed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 resolution DEM and satellite imagery. Remote Sensing, 13(16), p.3106.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[2]  El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Hajj, H., 2021. Interferometric SAR and machine learning: using open source data to detect archaeological looting and destruction. Journal of Computer Applications in Archaeology, 4(1).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[3] 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Boyoğlu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C.S., Balz, T.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Sultanbekova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2024. Assessing Looting Holes by Using SAR Simulation. The International Archives of the Photogrammetry, Remote Sensing and Spatial Information Sciences, 48, pp.31-36.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[4]  Mahmoud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A.M.A., Sheldrick, N. and Ahmed, M., 2025. A novel machine learning automated change detection tool for monitoring disturbances and threats to archaeological sites. Remote Sensing Applications: Society and Environment, 37, p.101396.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[5] Vincent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Saroufim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Chemla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Ubelmann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Y., Marquis, P., Ponce, J. and Aubry, M., 2025. Detecting Looted Archaeological Sites from Satellite Image Time Series. In Proceedings of the Computer Vision and Pattern Recognition Conference (pp. 2296-2307).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898641" y="6511537"/>
            <a:ext cx="4114800" cy="346464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524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415" y="625181"/>
            <a:ext cx="11465169" cy="49180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[6] </a:t>
            </a:r>
            <a:r>
              <a:rPr lang="en-US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Boyoglu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C.S.,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Balz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T.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Sultanbekova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2024. Assessing Looting Holes by 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SARSimulation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Archives of the Photogrammetry, Remote Sensing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SpatialInformation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Sciences, 48, pp.31-36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[7]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Laugier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E.J., Abdullatif, N.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Glatz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2022. Embedding the remote sensing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monitoringof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archaeological site damage at the local level: Results from the “Archaeological practice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andheritage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protection in the Kurdistan Region of Iraq” project.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one, 17(6), p.e0269796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[8]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Kopij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K.,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Cwiakala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Puniach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Sochacki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G.,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Miszk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L.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Bodzek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2024.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Temporalanalysis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looting activity in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Tuwaneh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(Southern Jordan). Journal of Field Archaeology, 49(1),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pp.74-94</a:t>
            </a:r>
          </a:p>
          <a:p>
            <a:pPr marL="0" indent="0">
              <a:buNone/>
            </a:pPr>
            <a:endParaRPr lang="en-US" sz="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[9]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Tapete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and Cigna, F., 2021. Satellite Technologies for Monitoring Archaeological Sites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atRisk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Antichistica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20, pp.155-168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1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[10]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Masini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and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Lasaponara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R., 2021. Remote and close range sensing for the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automaticidentification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characterization of archaeological looting. The case of Peru. Journal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ofComputer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 in Archaeology, 4(1).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447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DE8DD-76FA-AE7B-6914-1C08EEFC3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1825" y="2879984"/>
            <a:ext cx="2894045" cy="8522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4A828-3486-C5C8-6B16-2919DFF16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512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6209</TotalTime>
  <Words>1303</Words>
  <Application>Microsoft Office PowerPoint</Application>
  <PresentationFormat>Widescreen</PresentationFormat>
  <Paragraphs>194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Montserrat Classic</vt:lpstr>
      <vt:lpstr>Montserrat Classic Bold</vt:lpstr>
      <vt:lpstr>Times New Roman</vt:lpstr>
      <vt:lpstr>Office Theme</vt:lpstr>
      <vt:lpstr>LOOTING DETECTION USING SATELLITE IMAGES</vt:lpstr>
      <vt:lpstr>Content</vt:lpstr>
      <vt:lpstr>PowerPoint Presentation</vt:lpstr>
      <vt:lpstr>Aim</vt:lpstr>
      <vt:lpstr>LITERATURE REVIEW</vt:lpstr>
      <vt:lpstr>[5]  Vincent, E., Saroufim, M., Chemla, J., Ubelmann, Y., Marquis, P., Ponce, J. and Aubry, M., 2025. Detecting Looted Archaeological Sites from Satellite Image Time Series. In Proceedings of the Computer Vision and Pattern Recognition Conference (pp. 2296-2307). </vt:lpstr>
      <vt:lpstr> RESEARCH GAP</vt:lpstr>
      <vt:lpstr>Methodology </vt:lpstr>
      <vt:lpstr>Dataset</vt:lpstr>
      <vt:lpstr>PowerPoint Presentation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LOOTING DETECTION USING SATELLITE IMAGES</dc:title>
  <dc:creator>Gaurawa Mihiranga</dc:creator>
  <cp:lastModifiedBy>Gaurawa Mihiranga</cp:lastModifiedBy>
  <cp:revision>107</cp:revision>
  <dcterms:created xsi:type="dcterms:W3CDTF">2025-12-12T16:35:42Z</dcterms:created>
  <dcterms:modified xsi:type="dcterms:W3CDTF">2026-04-25T17:19:00Z</dcterms:modified>
</cp:coreProperties>
</file>