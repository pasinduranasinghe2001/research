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72" r:id="rId14"/>
    <p:sldId id="269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EC9B3-68B2-4A38-BBB0-B420615619C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B2C9B-D79B-4F59-A7AC-D959D3922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0609-20BD-495B-B33D-5D0ED4806103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B7754-BD6A-4804-8606-2F1D19694249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0904-388A-4BCE-8204-1EB7198C92C2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9137-51EF-4171-BB19-FCE9FF4D1BAB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4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7427-9A64-4B4A-A789-E715E340C0BA}" type="datetime1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2FC3-677E-4152-97AD-E41D28BFA663}" type="datetime1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3D9CA-CF0D-4402-85DB-508B65F3EF15}" type="datetime1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3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C90E0-B912-41FC-887E-5DFE1EB16531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5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315D1-0108-4B88-9872-C8E320DCB9F8}" type="datetime1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7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1B0B-8161-4B25-87AA-041487BA2736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5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6BAD3-83D9-4BFD-9FD1-6DB3F499F1E2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5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B2B67-C441-4A89-B3C7-5CDC08108C3F}" type="datetime1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896" y="1632857"/>
            <a:ext cx="10786272" cy="1877106"/>
          </a:xfrm>
        </p:spPr>
        <p:txBody>
          <a:bodyPr>
            <a:norm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LOOTING DETECTION USING SATELLITE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9804" y="5535827"/>
            <a:ext cx="4596292" cy="1180070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2022/E/037- WICKRAMASINGHE G.A.G.M.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2022/E/042- RANASINGHE G.D.P.D.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14896" y="5737654"/>
            <a:ext cx="3875462" cy="776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sz="1800" dirty="0">
                <a:solidFill>
                  <a:srgbClr val="EEECE1">
                    <a:lumMod val="2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:  </a:t>
            </a: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P. Jeyananthan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 </a:t>
            </a:r>
            <a:r>
              <a:rPr lang="en-US" sz="1800" dirty="0">
                <a:solidFill>
                  <a:srgbClr val="EEECE1">
                    <a:lumMod val="2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V. Aarthy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0116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151" y="136525"/>
            <a:ext cx="10101649" cy="12770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6327"/>
            <a:ext cx="10515600" cy="5281125"/>
          </a:xfrm>
        </p:spPr>
        <p:txBody>
          <a:bodyPr>
            <a:noAutofit/>
          </a:bodyPr>
          <a:lstStyle/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Introduction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Aim , Objectives, Scope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Literature Review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State-of-the-art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Research Gaps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Time-Line</a:t>
            </a:r>
          </a:p>
          <a:p>
            <a:pPr marL="949326" lvl="1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24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838200" y="3699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838200" y="1397043"/>
            <a:ext cx="10515600" cy="5090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Archaeological Looting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removal of artifacts that permanently damages cultural heritage.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Looting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sites are remote or located in conflict-affected regions.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surveys are costly, risky, and time-consuming.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Satellite Imagery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large-scale and long-term monitoring.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temporal changes in inaccessible areas.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Looting produces subtle visual changes that are difficult to detect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24992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413"/>
            <a:ext cx="10515600" cy="788172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Aim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956"/>
            <a:ext cx="10515600" cy="73051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method using satellite imagery and deep learning to automatically detect looting archaeological sites.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4261317"/>
            <a:ext cx="10515600" cy="88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2898871"/>
            <a:ext cx="10515600" cy="1574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satellite images of archaeological sites over time.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deep learning models for looting classification.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and reliability of automated looting detection.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997324"/>
            <a:ext cx="10515600" cy="799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Objectives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5268096"/>
            <a:ext cx="10515600" cy="98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5266312"/>
            <a:ext cx="10515600" cy="990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using multi-temporal satellite imagery and deep learning techniques to remotely detect archaeological looting in cultural heritage sites.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267068"/>
            <a:ext cx="4114800" cy="365125"/>
          </a:xfrm>
        </p:spPr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3686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857" y="260213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ts val="9000"/>
              </a:lnSpc>
            </a:pPr>
            <a:r>
              <a:rPr lang="en-US" sz="48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LITERATURE REVIEW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5348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223" y="261259"/>
            <a:ext cx="10515600" cy="1595534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1 -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Tapete, D.,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Traviglia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Delpozzo, E. and Cigna, F., 2021.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Regional-scale systematic mapping of archaeological mounds and detection of looting using COSMO-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SkyMed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resolution DEM and satellite imagery.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Remote Sensing, 13(16), p.3106.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26509"/>
            <a:ext cx="11097986" cy="4258962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archaeological mounds and looted areas using satellite data.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COSMO-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SkyMed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Elevation Models(DEM), Sentinel-2 images, old CORONA images.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radar DEM and satellite images are analyzed in Geographic Information System (GIS) to visually identify mounds and looting.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Looting has happened in 42% of the places from the identified places.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manual and time-consuming and lacks field validation.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730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Hajj, H., 2021.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Interferometric SAR and machine learning: using open source data to detect archaeological looting and destruction.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Journal of Computer Applications in Archaeology, 4(1).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68843"/>
            <a:ext cx="11097986" cy="4387507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archaeological looting and site destruction using Synthetic Aperture Radar(SAR) satellite data and machine learning methods.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Sentinel-1 SAR data and Sentinal-2 optical satellite images are used.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 is used to detect ground surface changes, and machine learning(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Forest,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SMOTEBoost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used to identify looting patterns.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G-mean value of Palmyra is 0.863  And G-mean value of Ain Dara is 0.984.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performance in vegetated areas.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2513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18878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3 -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Boyoğlu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C.S., Balz, T.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Sultanbekova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2024.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Assessing Looting Holes by Using SAR Simulation.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International Archives of the Photogrammetry, Remote Sensing and Spatial Information Sciences, 48, pp.31-36.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04210"/>
            <a:ext cx="11097986" cy="4988664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assess and detect archaeological looting holes using simulated SAR images.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TerraSAR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  SAR satellite images, 3D photogrammetric models of looting holes.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 simulation is used to model how looting holes appear in radar images and to analyze their detectability under different imaging conditions.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 simulation shows that small-scale looting holes can be detected in high-resolution SAR images, depending on hole geometry and imaging conditions.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 may not fully represent real SAR data and need validation with real images.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13082"/>
            <a:ext cx="4114800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418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22282"/>
            <a:ext cx="10787743" cy="1233295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Mahmoud, A.M.A., Sheldrick, N. and Ahmed, M., 2025.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novel machine learning automated change detection tool for monitoring disturbances and threats to archaeological sites.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Remote Sensing Applications: Society and Environment, 37, p.101396.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455577"/>
            <a:ext cx="11097986" cy="4991876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automatically detect disturbances and threats to archaeological sites using machine learning.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Sentinel-2 satellite images combined with site coordinates and metadata from the EAMENA database.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learning(Random Forest) is used to automatically detect changes between satellite images over time.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85–91% overall accuracy.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may make mistakes because buildings and soil can look the same, shadows can confuse the data, and natural seasonal changes can appear as damage.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9919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214" y="2683782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ts val="9000"/>
              </a:lnSpc>
            </a:pPr>
            <a:r>
              <a:rPr lang="en-US" sz="48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STATE-OF-THE-ART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8372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9250"/>
            <a:ext cx="10515600" cy="1306286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5 -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Vincent, E.,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Saroufim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Chemla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Ubelmann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Marquis, P., Ponce, J. and Aubry, M., 2025.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Looted Archaeological Sites from Satellite Image Time Series.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Proceedings of the Computer Vision and Pattern Recognition Conference (pp. 2296-2307).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76562"/>
            <a:ext cx="11097986" cy="4816313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detect looted archaeological sites by analyzing changes in satellite images over time.</a:t>
            </a:r>
          </a:p>
          <a:p>
            <a:pPr marL="0" indent="0">
              <a:buNone/>
            </a:pP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DAFA-LS is a labelled satellite image time-series dataset.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models(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SatMAE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Scale-MAE, and Dynamic One-For-All) and a temporal attenuation module(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TempCNN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LTAE,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TSViT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UTAE) are used to detect looting from satellite image time series.</a:t>
            </a:r>
          </a:p>
          <a:p>
            <a:pPr marL="0" indent="0">
              <a:buNone/>
            </a:pP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One-For-All (DOFA) combined with Long-Term Attention Encoder (LTAE) achieved the best performance, with 78.7% accuracy, 74.9% F1-score, and 87.1% AUROC (Area Under the Receiver Operating Characteristic curve).</a:t>
            </a:r>
          </a:p>
          <a:p>
            <a:pPr marL="0" indent="0">
              <a:buNone/>
            </a:pP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only uses sites in Afghanistan, ignores areas around the sites and uses only supervised methods.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5145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67" y="38194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4AAD"/>
                </a:solidFill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RESEARCH GAP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980" y="1852127"/>
            <a:ext cx="10282335" cy="755779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Long Time-Series Data.</a:t>
            </a:r>
          </a:p>
          <a:p>
            <a:pPr marL="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9D096D-A5F3-09C8-E124-23FF0BE03A9D}"/>
              </a:ext>
            </a:extLst>
          </p:cNvPr>
          <p:cNvSpPr txBox="1">
            <a:spLocks/>
          </p:cNvSpPr>
          <p:nvPr/>
        </p:nvSpPr>
        <p:spPr>
          <a:xfrm>
            <a:off x="838200" y="2752531"/>
            <a:ext cx="10282335" cy="186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state-of-the-art methods for archaeological looting detection rely on long satellite image time series. However such long-term temporal data are not always available for many archaeological sites. Therefore, there is a need for detection approaches that work effectively with limited satellite image time-series data.</a:t>
            </a:r>
          </a:p>
        </p:txBody>
      </p:sp>
    </p:spTree>
    <p:extLst>
      <p:ext uri="{BB962C8B-B14F-4D97-AF65-F5344CB8AC3E}">
        <p14:creationId xmlns:p14="http://schemas.microsoft.com/office/powerpoint/2010/main" val="1887787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1FD98-CCE1-4EC9-8002-ECDB2774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361873" y="6611759"/>
            <a:ext cx="2743200" cy="365125"/>
          </a:xfrm>
        </p:spPr>
        <p:txBody>
          <a:bodyPr/>
          <a:lstStyle/>
          <a:p>
            <a:fld id="{D6AFF101-12CC-4758-BE2D-06F1940D2D56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5AE5A-738A-4729-A04C-B86505FB45D6}"/>
              </a:ext>
            </a:extLst>
          </p:cNvPr>
          <p:cNvSpPr txBox="1"/>
          <p:nvPr/>
        </p:nvSpPr>
        <p:spPr>
          <a:xfrm>
            <a:off x="267479" y="0"/>
            <a:ext cx="49619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Time-Line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AD9523-B206-44DF-8A01-472C562A1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927174"/>
              </p:ext>
            </p:extLst>
          </p:nvPr>
        </p:nvGraphicFramePr>
        <p:xfrm>
          <a:off x="267479" y="830997"/>
          <a:ext cx="11675187" cy="5830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5245">
                  <a:extLst>
                    <a:ext uri="{9D8B030D-6E8A-4147-A177-3AD203B41FA5}">
                      <a16:colId xmlns:a16="http://schemas.microsoft.com/office/drawing/2014/main" val="1836279962"/>
                    </a:ext>
                  </a:extLst>
                </a:gridCol>
                <a:gridCol w="643812">
                  <a:extLst>
                    <a:ext uri="{9D8B030D-6E8A-4147-A177-3AD203B41FA5}">
                      <a16:colId xmlns:a16="http://schemas.microsoft.com/office/drawing/2014/main" val="3775356176"/>
                    </a:ext>
                  </a:extLst>
                </a:gridCol>
                <a:gridCol w="755779">
                  <a:extLst>
                    <a:ext uri="{9D8B030D-6E8A-4147-A177-3AD203B41FA5}">
                      <a16:colId xmlns:a16="http://schemas.microsoft.com/office/drawing/2014/main" val="316972591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726939054"/>
                    </a:ext>
                  </a:extLst>
                </a:gridCol>
                <a:gridCol w="802433">
                  <a:extLst>
                    <a:ext uri="{9D8B030D-6E8A-4147-A177-3AD203B41FA5}">
                      <a16:colId xmlns:a16="http://schemas.microsoft.com/office/drawing/2014/main" val="4122412298"/>
                    </a:ext>
                  </a:extLst>
                </a:gridCol>
                <a:gridCol w="700313">
                  <a:extLst>
                    <a:ext uri="{9D8B030D-6E8A-4147-A177-3AD203B41FA5}">
                      <a16:colId xmlns:a16="http://schemas.microsoft.com/office/drawing/2014/main" val="452009010"/>
                    </a:ext>
                  </a:extLst>
                </a:gridCol>
                <a:gridCol w="737118">
                  <a:extLst>
                    <a:ext uri="{9D8B030D-6E8A-4147-A177-3AD203B41FA5}">
                      <a16:colId xmlns:a16="http://schemas.microsoft.com/office/drawing/2014/main" val="1090277506"/>
                    </a:ext>
                  </a:extLst>
                </a:gridCol>
                <a:gridCol w="699796">
                  <a:extLst>
                    <a:ext uri="{9D8B030D-6E8A-4147-A177-3AD203B41FA5}">
                      <a16:colId xmlns:a16="http://schemas.microsoft.com/office/drawing/2014/main" val="167591368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3115992399"/>
                    </a:ext>
                  </a:extLst>
                </a:gridCol>
                <a:gridCol w="643812">
                  <a:extLst>
                    <a:ext uri="{9D8B030D-6E8A-4147-A177-3AD203B41FA5}">
                      <a16:colId xmlns:a16="http://schemas.microsoft.com/office/drawing/2014/main" val="3000384990"/>
                    </a:ext>
                  </a:extLst>
                </a:gridCol>
                <a:gridCol w="733793">
                  <a:extLst>
                    <a:ext uri="{9D8B030D-6E8A-4147-A177-3AD203B41FA5}">
                      <a16:colId xmlns:a16="http://schemas.microsoft.com/office/drawing/2014/main" val="3991451620"/>
                    </a:ext>
                  </a:extLst>
                </a:gridCol>
                <a:gridCol w="658906">
                  <a:extLst>
                    <a:ext uri="{9D8B030D-6E8A-4147-A177-3AD203B41FA5}">
                      <a16:colId xmlns:a16="http://schemas.microsoft.com/office/drawing/2014/main" val="2402556560"/>
                    </a:ext>
                  </a:extLst>
                </a:gridCol>
                <a:gridCol w="800664">
                  <a:extLst>
                    <a:ext uri="{9D8B030D-6E8A-4147-A177-3AD203B41FA5}">
                      <a16:colId xmlns:a16="http://schemas.microsoft.com/office/drawing/2014/main" val="1684616253"/>
                    </a:ext>
                  </a:extLst>
                </a:gridCol>
                <a:gridCol w="875891">
                  <a:extLst>
                    <a:ext uri="{9D8B030D-6E8A-4147-A177-3AD203B41FA5}">
                      <a16:colId xmlns:a16="http://schemas.microsoft.com/office/drawing/2014/main" val="3664917705"/>
                    </a:ext>
                  </a:extLst>
                </a:gridCol>
              </a:tblGrid>
              <a:tr h="282108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07735"/>
                  </a:ext>
                </a:extLst>
              </a:tr>
              <a:tr h="449091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13-15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054874"/>
                  </a:ext>
                </a:extLst>
              </a:tr>
              <a:tr h="44909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84374"/>
                  </a:ext>
                </a:extLst>
              </a:tr>
              <a:tr h="44631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Bibliography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704910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Proposal making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1412"/>
                  </a:ext>
                </a:extLst>
              </a:tr>
              <a:tr h="6733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and Preprocessing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448516"/>
                  </a:ext>
                </a:extLst>
              </a:tr>
              <a:tr h="26218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139105"/>
                  </a:ext>
                </a:extLst>
              </a:tr>
              <a:tr h="57652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605588"/>
                  </a:ext>
                </a:extLst>
              </a:tr>
              <a:tr h="6385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Thesis Writing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854154"/>
                  </a:ext>
                </a:extLst>
              </a:tr>
              <a:tr h="54402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writing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62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05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9" y="102637"/>
            <a:ext cx="10515600" cy="933061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REFERENCES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405" y="1035698"/>
            <a:ext cx="11422224" cy="5589037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Tapete, D.,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Traviglia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Delpozzo, E. and Cigna, F., 2021. Regional-scale systematic mapping of archaeological mounds and detection of looting using COSMO-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SkyMed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resolution DEM and satellite imagery. Remote Sensing, 13(16), p.3106.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Hajj, H., 2021. Interferometric SAR and machine learning: using open source data to detect archaeological looting and destruction. Journal of Computer Applications in Archaeology, 4(1).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Boyoğlu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C.S., Balz, T.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Sultanbekova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2024. Assessing Looting Holes by Using SAR Simulation. The International Archives of the Photogrammetry, Remote Sensing and Spatial Information Sciences, 48, pp.31-36.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Mahmoud, A.M.A., Sheldrick, N. and Ahmed, M., 2025. A novel machine learning automated change detection tool for monitoring disturbances and threats to archaeological sites. Remote Sensing Applications: Society and Environment, 37, p.101396.</a:t>
            </a:r>
          </a:p>
          <a:p>
            <a:pPr marL="0" indent="0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Vincent, E.,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Saroufim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Ubelmann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Marquis, P., Ponce, J. and Aubry, M., 2025. Detecting Looted Archaeological Sites from Satellite Image Time Series. In Proceedings of the Computer Vision and Pattern Recognition Conference (pp. 2296-2307).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98641" y="6511537"/>
            <a:ext cx="4114800" cy="346464"/>
          </a:xfrm>
        </p:spPr>
        <p:txBody>
          <a:bodyPr/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8524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DE8DD-76FA-AE7B-6914-1C08EEFC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825" y="2879984"/>
            <a:ext cx="2894045" cy="8522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A828-3486-C5C8-6B16-2919DFF1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512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2050</TotalTime>
  <Words>1309</Words>
  <Application>Microsoft Office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LOOTING DETECTION USING SATELLITE IMAGES</vt:lpstr>
      <vt:lpstr>Content</vt:lpstr>
      <vt:lpstr>PowerPoint Presentation</vt:lpstr>
      <vt:lpstr>Aim</vt:lpstr>
      <vt:lpstr>LITERATURE REVIEW</vt:lpstr>
      <vt:lpstr>Paper 1 - Tapete, D., Traviglia, A., Delpozzo, E. and Cigna, F., 2021. Regional-scale systematic mapping of archaeological mounds and detection of looting using COSMO-SkyMed high resolution DEM and satellite imagery. Remote Sensing, 13(16), p.3106. </vt:lpstr>
      <vt:lpstr>Paper 2 - El Hajj, H., 2021. Interferometric SAR and machine learning: using open source data to detect archaeological looting and destruction. Journal of Computer Applications in Archaeology, 4(1). </vt:lpstr>
      <vt:lpstr>Paper 3 - Boyoğlu, C.S., Balz, T. and Sultanbekova, A., 2024. Assessing Looting Holes by Using SAR Simulation. The International Archives of the Photogrammetry, Remote Sensing and Spatial Information Sciences, 48, pp.31-36. </vt:lpstr>
      <vt:lpstr>Paper 4 - Mahmoud, A.M.A., Sheldrick, N. and Ahmed, M., 2025. A novel machine learning automated change detection tool for monitoring disturbances and threats to archaeological sites. Remote Sensing Applications: Society and Environment, 37, p.101396. </vt:lpstr>
      <vt:lpstr>STATE-OF-THE-ART</vt:lpstr>
      <vt:lpstr>Paper 5 - Vincent, E., Saroufim, M., Chemla, J., Ubelmann, Y., Marquis, P., Ponce, J. and Aubry, M., 2025. Detecting Looted Archaeological Sites from Satellite Image Time Series. In Proceedings of the Computer Vision and Pattern Recognition Conference (pp. 2296-2307). </vt:lpstr>
      <vt:lpstr> RESEARCH GAP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LOOTING DETECTION USING SATELLITE IMAGES</dc:title>
  <dc:creator>Gaurawa Mihiranga</dc:creator>
  <cp:lastModifiedBy>pasindu bro</cp:lastModifiedBy>
  <cp:revision>68</cp:revision>
  <dcterms:created xsi:type="dcterms:W3CDTF">2025-12-12T16:35:42Z</dcterms:created>
  <dcterms:modified xsi:type="dcterms:W3CDTF">2026-01-25T15:25:30Z</dcterms:modified>
</cp:coreProperties>
</file>